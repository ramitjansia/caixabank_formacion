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60" r:id="rId3"/>
    <p:sldId id="274" r:id="rId4"/>
    <p:sldId id="275" r:id="rId5"/>
    <p:sldId id="276" r:id="rId6"/>
    <p:sldId id="277" r:id="rId7"/>
    <p:sldId id="266" r:id="rId8"/>
    <p:sldId id="278" r:id="rId9"/>
    <p:sldId id="282" r:id="rId10"/>
    <p:sldId id="283" r:id="rId11"/>
    <p:sldId id="284" r:id="rId12"/>
    <p:sldId id="267" r:id="rId13"/>
    <p:sldId id="285" r:id="rId14"/>
    <p:sldId id="286" r:id="rId15"/>
    <p:sldId id="287" r:id="rId16"/>
    <p:sldId id="258" r:id="rId17"/>
    <p:sldId id="261" r:id="rId18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2" pos="76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3479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25" autoAdjust="0"/>
    <p:restoredTop sz="94694"/>
  </p:normalViewPr>
  <p:slideViewPr>
    <p:cSldViewPr snapToGrid="0" showGuides="1">
      <p:cViewPr>
        <p:scale>
          <a:sx n="33" d="100"/>
          <a:sy n="33" d="100"/>
        </p:scale>
        <p:origin x="1614" y="870"/>
      </p:cViewPr>
      <p:guideLst>
        <p:guide orient="horz" pos="4320"/>
        <p:guide pos="76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1" d="100"/>
          <a:sy n="81" d="100"/>
        </p:scale>
        <p:origin x="389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45A0E738-24AA-BADC-A8C4-C87DF1E2F2F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A450776-E0F4-D0DB-68BB-6CD13426E16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503C6F-49BD-47BC-9EDA-98E10EA3EBA1}" type="datetimeFigureOut">
              <a:rPr lang="es-ES" smtClean="0"/>
              <a:t>14/04/2026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EDCFA64-C47B-5EA0-99EF-3723381DB61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BFDA614-347F-8CFD-6074-52BBCB6F1AB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3D6D43-E4BF-4333-A4CB-0EF4A7869D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877507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Shape 343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44" name="Shape 344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dublin-2344423_1280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062" r="29062"/>
          <a:stretch/>
        </p:blipFill>
        <p:spPr>
          <a:xfrm>
            <a:off x="14157257" y="-49240"/>
            <a:ext cx="10261229" cy="13765240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Autor y fech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67715">
              <a:lnSpc>
                <a:spcPct val="100000"/>
              </a:lnSpc>
              <a:spcBef>
                <a:spcPts val="0"/>
              </a:spcBef>
              <a:buSzTx/>
              <a:buNone/>
              <a:defRPr sz="3720"/>
            </a:lvl1pPr>
          </a:lstStyle>
          <a:p>
            <a:r>
              <a:t>Autor y fecha</a:t>
            </a:r>
          </a:p>
        </p:txBody>
      </p:sp>
      <p:sp>
        <p:nvSpPr>
          <p:cNvPr id="15" name="Título de la presentación"/>
          <p:cNvSpPr txBox="1">
            <a:spLocks noGrp="1"/>
          </p:cNvSpPr>
          <p:nvPr>
            <p:ph type="title" hasCustomPrompt="1"/>
          </p:nvPr>
        </p:nvSpPr>
        <p:spPr>
          <a:xfrm>
            <a:off x="1155696" y="5090788"/>
            <a:ext cx="13577991" cy="4648201"/>
          </a:xfrm>
          <a:prstGeom prst="rect">
            <a:avLst/>
          </a:prstGeom>
        </p:spPr>
        <p:txBody>
          <a:bodyPr anchor="b"/>
          <a:lstStyle>
            <a:lvl1pPr>
              <a:defRPr sz="10000" spc="-200"/>
            </a:lvl1pPr>
          </a:lstStyle>
          <a:p>
            <a:r>
              <a:t>Título de la presentación</a:t>
            </a:r>
          </a:p>
        </p:txBody>
      </p:sp>
      <p:sp>
        <p:nvSpPr>
          <p:cNvPr id="16" name="Nivel de texto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9661590"/>
            <a:ext cx="13042206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5E5E5E"/>
                </a:solidFill>
              </a:defRPr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5E5E5E"/>
                </a:solidFill>
              </a:defRPr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5E5E5E"/>
                </a:solidFill>
              </a:defRPr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5E5E5E"/>
                </a:solidFill>
              </a:defRPr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5E5E5E"/>
                </a:solidFill>
              </a:defRPr>
            </a:lvl5pPr>
          </a:lstStyle>
          <a:p>
            <a:r>
              <a:t>Subtítulo de la presentación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17" name="UPC-positiu-p3005.png" descr="UPC-positiu-p3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037" y="810914"/>
            <a:ext cx="7200901" cy="2159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8" name="Imagen" descr="Imag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28673" y="-49240"/>
            <a:ext cx="3711788" cy="13968440"/>
          </a:xfrm>
          <a:prstGeom prst="rect">
            <a:avLst/>
          </a:prstGeom>
          <a:ln w="12700">
            <a:miter lim="400000"/>
          </a:ln>
        </p:spPr>
      </p:pic>
      <p:sp>
        <p:nvSpPr>
          <p:cNvPr id="2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Hipoteca Caixabank - Genial Banking">
            <a:extLst>
              <a:ext uri="{FF2B5EF4-FFF2-40B4-BE49-F238E27FC236}">
                <a16:creationId xmlns:a16="http://schemas.microsoft.com/office/drawing/2014/main" id="{16193C11-0659-217A-77E1-AAB4767EA92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31" b="26543"/>
          <a:stretch>
            <a:fillRect/>
          </a:stretch>
        </p:blipFill>
        <p:spPr bwMode="auto">
          <a:xfrm>
            <a:off x="9788641" y="1112996"/>
            <a:ext cx="5572854" cy="1439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c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ángulo"/>
          <p:cNvSpPr/>
          <p:nvPr/>
        </p:nvSpPr>
        <p:spPr>
          <a:xfrm>
            <a:off x="14126288" y="-6313"/>
            <a:ext cx="10340622" cy="13728625"/>
          </a:xfrm>
          <a:prstGeom prst="rect">
            <a:avLst/>
          </a:prstGeom>
          <a:solidFill>
            <a:srgbClr val="3579BB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8" name="Título de la presentación"/>
          <p:cNvSpPr txBox="1">
            <a:spLocks noGrp="1"/>
          </p:cNvSpPr>
          <p:nvPr>
            <p:ph type="title" hasCustomPrompt="1"/>
          </p:nvPr>
        </p:nvSpPr>
        <p:spPr>
          <a:xfrm>
            <a:off x="1107219" y="6108808"/>
            <a:ext cx="13577991" cy="4648201"/>
          </a:xfrm>
          <a:prstGeom prst="rect">
            <a:avLst/>
          </a:prstGeom>
        </p:spPr>
        <p:txBody>
          <a:bodyPr anchor="b"/>
          <a:lstStyle/>
          <a:p>
            <a:r>
              <a:t>Título de la presentación</a:t>
            </a:r>
          </a:p>
        </p:txBody>
      </p:sp>
      <p:sp>
        <p:nvSpPr>
          <p:cNvPr id="29" name="Nivel de texto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182261" y="11205037"/>
            <a:ext cx="13042206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929292"/>
                </a:solidFill>
              </a:defRPr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929292"/>
                </a:solidFill>
              </a:defRPr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929292"/>
                </a:solidFill>
              </a:defRPr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929292"/>
                </a:solidFill>
              </a:defRPr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929292"/>
                </a:solidFill>
              </a:defRPr>
            </a:lvl5pPr>
          </a:lstStyle>
          <a:p>
            <a:r>
              <a:t>Subtítulo de la presentación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30" name="Imagen" descr="Imag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4546" y="0"/>
            <a:ext cx="3711788" cy="13728625"/>
          </a:xfrm>
          <a:prstGeom prst="rect">
            <a:avLst/>
          </a:prstGeom>
          <a:ln w="12700">
            <a:miter lim="400000"/>
          </a:ln>
        </p:spPr>
      </p:pic>
      <p:pic>
        <p:nvPicPr>
          <p:cNvPr id="32" name="UPC-blanc-fons-transp.png" descr="UPC-blanc-fons-trans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6334" y="901769"/>
            <a:ext cx="6096001" cy="1827726"/>
          </a:xfrm>
          <a:prstGeom prst="rect">
            <a:avLst/>
          </a:prstGeom>
          <a:ln w="12700">
            <a:miter lim="400000"/>
          </a:ln>
        </p:spPr>
      </p:pic>
      <p:sp>
        <p:nvSpPr>
          <p:cNvPr id="34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1026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11B78ADA-EB64-29AA-C7AB-52F7A6F43E7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45251" y="3236715"/>
            <a:ext cx="5618166" cy="1439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cion 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ángulo"/>
          <p:cNvSpPr/>
          <p:nvPr/>
        </p:nvSpPr>
        <p:spPr>
          <a:xfrm>
            <a:off x="14126288" y="-6313"/>
            <a:ext cx="10340622" cy="1372862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42" name="Título de la presentación"/>
          <p:cNvSpPr txBox="1">
            <a:spLocks noGrp="1"/>
          </p:cNvSpPr>
          <p:nvPr>
            <p:ph type="title" hasCustomPrompt="1"/>
          </p:nvPr>
        </p:nvSpPr>
        <p:spPr>
          <a:xfrm>
            <a:off x="1107219" y="6108808"/>
            <a:ext cx="13577991" cy="4648201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Título de la presentación</a:t>
            </a:r>
          </a:p>
        </p:txBody>
      </p:sp>
      <p:sp>
        <p:nvSpPr>
          <p:cNvPr id="43" name="Nivel de texto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182261" y="11205037"/>
            <a:ext cx="13042206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D5D5D5"/>
                </a:solidFill>
              </a:defRPr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D5D5D5"/>
                </a:solidFill>
              </a:defRPr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D5D5D5"/>
                </a:solidFill>
              </a:defRPr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D5D5D5"/>
                </a:solidFill>
              </a:defRPr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D5D5D5"/>
                </a:solidFill>
              </a:defRPr>
            </a:lvl5pPr>
          </a:lstStyle>
          <a:p>
            <a:r>
              <a:t>Subtítulo de la presentación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44" name="UPC-positiu-p3005.png" descr="UPC-positiu-p3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9270" y="980584"/>
            <a:ext cx="6095179" cy="1827480"/>
          </a:xfrm>
          <a:prstGeom prst="rect">
            <a:avLst/>
          </a:prstGeom>
          <a:ln w="12700">
            <a:miter lim="400000"/>
          </a:ln>
        </p:spPr>
      </p:pic>
      <p:sp>
        <p:nvSpPr>
          <p:cNvPr id="47" name="Triángulo"/>
          <p:cNvSpPr/>
          <p:nvPr/>
        </p:nvSpPr>
        <p:spPr>
          <a:xfrm>
            <a:off x="14085023" y="0"/>
            <a:ext cx="3984247" cy="13828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solidFill>
            <a:srgbClr val="3579BB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48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Hipoteca Caixabank - Genial Banking">
            <a:extLst>
              <a:ext uri="{FF2B5EF4-FFF2-40B4-BE49-F238E27FC236}">
                <a16:creationId xmlns:a16="http://schemas.microsoft.com/office/drawing/2014/main" id="{6FA2040E-BFA9-6223-5710-2E728A6E53BD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31" b="26543"/>
          <a:stretch>
            <a:fillRect/>
          </a:stretch>
        </p:blipFill>
        <p:spPr bwMode="auto">
          <a:xfrm>
            <a:off x="18330432" y="3075133"/>
            <a:ext cx="5572854" cy="1439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y viñe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ítulo de la diapositiva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Título de la diapositiva</a:t>
            </a:r>
          </a:p>
        </p:txBody>
      </p:sp>
      <p:sp>
        <p:nvSpPr>
          <p:cNvPr id="68" name="Subtítulo de la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 i="1">
                <a:solidFill>
                  <a:srgbClr val="5E5E5E"/>
                </a:solidFill>
              </a:defRPr>
            </a:lvl1pPr>
          </a:lstStyle>
          <a:p>
            <a:r>
              <a:t>Subtítulo de la diapositiva</a:t>
            </a:r>
          </a:p>
        </p:txBody>
      </p:sp>
      <p:sp>
        <p:nvSpPr>
          <p:cNvPr id="69" name="Nivel de texto 1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de viñeta de la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ítulo y viñetas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ítulo de la diapositiva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Título de la diapositiva</a:t>
            </a:r>
          </a:p>
        </p:txBody>
      </p:sp>
      <p:sp>
        <p:nvSpPr>
          <p:cNvPr id="78" name="Subtítulo de la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 i="1">
                <a:solidFill>
                  <a:srgbClr val="D5D5D5"/>
                </a:solidFill>
              </a:defRPr>
            </a:lvl1pPr>
          </a:lstStyle>
          <a:p>
            <a:r>
              <a:t>Subtítulo de la diapositiva</a:t>
            </a:r>
          </a:p>
        </p:txBody>
      </p:sp>
      <p:sp>
        <p:nvSpPr>
          <p:cNvPr id="79" name="Nivel de texto 1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r>
              <a:t>Texto de viñeta de la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81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0D6FDC25-BC61-AD67-EADF-D483E561AE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5600" y="12708830"/>
            <a:ext cx="3749816" cy="96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o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r>
              <a:t>Título de la diapositiva</a:t>
            </a:r>
          </a:p>
        </p:txBody>
      </p:sp>
      <p:sp>
        <p:nvSpPr>
          <p:cNvPr id="90" name="Subtítulo de la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 i="1">
                <a:solidFill>
                  <a:srgbClr val="5E5E5E"/>
                </a:solidFill>
              </a:defRPr>
            </a:lvl1pPr>
          </a:lstStyle>
          <a:p>
            <a:r>
              <a:t>Subtítulo de la diapositiva</a:t>
            </a:r>
          </a:p>
        </p:txBody>
      </p:sp>
      <p:sp>
        <p:nvSpPr>
          <p:cNvPr id="9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olo título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Título de la diapositiva</a:t>
            </a:r>
          </a:p>
        </p:txBody>
      </p:sp>
      <p:sp>
        <p:nvSpPr>
          <p:cNvPr id="99" name="Subtítulo de la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 i="1">
                <a:solidFill>
                  <a:srgbClr val="D5D5D5"/>
                </a:solidFill>
              </a:defRPr>
            </a:lvl1pPr>
          </a:lstStyle>
          <a:p>
            <a:r>
              <a:t>Subtítulo de la diapositiva</a:t>
            </a:r>
          </a:p>
        </p:txBody>
      </p:sp>
      <p:pic>
        <p:nvPicPr>
          <p:cNvPr id="100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sp>
        <p:nvSpPr>
          <p:cNvPr id="102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6B9E3A99-1110-845E-DB71-D669D5057FD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5600" y="12708830"/>
            <a:ext cx="3749816" cy="96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, viñetas y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ubtítulo de la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 i="1">
                <a:solidFill>
                  <a:srgbClr val="5E5E5E"/>
                </a:solidFill>
              </a:defRPr>
            </a:lvl1pPr>
          </a:lstStyle>
          <a:p>
            <a:r>
              <a:t>Subtítulo de la diapositiva</a:t>
            </a:r>
          </a:p>
        </p:txBody>
      </p:sp>
      <p:sp>
        <p:nvSpPr>
          <p:cNvPr id="110" name="Nivel de texto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Texto de viñeta de la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Cuenco de pappardelle con mantequilla de perejil, avellanas tostadas y lascas de queso parmesano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2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Título de la diapositiva</a:t>
            </a:r>
          </a:p>
        </p:txBody>
      </p:sp>
      <p:sp>
        <p:nvSpPr>
          <p:cNvPr id="113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ítulo, viñetas y foto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ubtítulo de la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 i="1">
                <a:solidFill>
                  <a:srgbClr val="D5D5D5"/>
                </a:solidFill>
              </a:defRPr>
            </a:lvl1pPr>
          </a:lstStyle>
          <a:p>
            <a:r>
              <a:t>Subtítulo de la diapositiva</a:t>
            </a:r>
          </a:p>
        </p:txBody>
      </p:sp>
      <p:sp>
        <p:nvSpPr>
          <p:cNvPr id="121" name="Nivel de texto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r>
              <a:t>Texto de viñeta de la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2" name="Cuenco de pappardelle con mantequilla de perejil, avellanas tostadas y lascas de queso parmesano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3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Título de la diapositiva</a:t>
            </a:r>
          </a:p>
        </p:txBody>
      </p:sp>
      <p:pic>
        <p:nvPicPr>
          <p:cNvPr id="124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sp>
        <p:nvSpPr>
          <p:cNvPr id="126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4C1068CB-81C0-DD0D-20CC-6813E947C8D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5600" y="12708830"/>
            <a:ext cx="3749816" cy="96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olo títuloce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54848" y="6140525"/>
            <a:ext cx="24274304" cy="1434950"/>
          </a:xfrm>
          <a:prstGeom prst="rect">
            <a:avLst/>
          </a:prstGeom>
        </p:spPr>
        <p:txBody>
          <a:bodyPr/>
          <a:lstStyle>
            <a:lvl1pPr algn="ctr"/>
          </a:lstStyle>
          <a:p>
            <a:r>
              <a:t>Título de la diapositiva</a:t>
            </a:r>
          </a:p>
        </p:txBody>
      </p:sp>
      <p:sp>
        <p:nvSpPr>
          <p:cNvPr id="134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olo título centro 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209359" y="6140525"/>
            <a:ext cx="24275341" cy="14349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r>
              <a:t>Título de la diapositiva</a:t>
            </a:r>
          </a:p>
        </p:txBody>
      </p:sp>
      <p:pic>
        <p:nvPicPr>
          <p:cNvPr id="142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1DBA55C8-6D08-7A12-9CB9-7DA5ADA8FC9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5600" y="12708830"/>
            <a:ext cx="3749816" cy="96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ato importa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Nivel de texto 1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100 %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52" name="Información fáctic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Información fáctica</a:t>
            </a:r>
          </a:p>
        </p:txBody>
      </p:sp>
      <p:sp>
        <p:nvSpPr>
          <p:cNvPr id="153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ato importante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Nivel de texto 1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>
                <a:solidFill>
                  <a:srgbClr val="FFFFFF"/>
                </a:solidFill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>
                <a:solidFill>
                  <a:srgbClr val="FFFFFF"/>
                </a:solidFill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>
                <a:solidFill>
                  <a:srgbClr val="FFFFFF"/>
                </a:solidFill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>
                <a:solidFill>
                  <a:srgbClr val="FFFFFF"/>
                </a:solidFill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>
                <a:solidFill>
                  <a:srgbClr val="FFFFFF"/>
                </a:solidFill>
              </a:defRPr>
            </a:lvl5pPr>
          </a:lstStyle>
          <a:p>
            <a:r>
              <a:t>100 %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61" name="Información fáctic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>
                <a:solidFill>
                  <a:srgbClr val="FFFFFF"/>
                </a:solidFill>
              </a:defRPr>
            </a:lvl1pPr>
          </a:lstStyle>
          <a:p>
            <a:r>
              <a:t>Información fáctica</a:t>
            </a:r>
          </a:p>
        </p:txBody>
      </p:sp>
      <p:pic>
        <p:nvPicPr>
          <p:cNvPr id="162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sp>
        <p:nvSpPr>
          <p:cNvPr id="164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EAF2CD8D-319F-1CFD-0FAF-806CDF69FD4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5600" y="12708830"/>
            <a:ext cx="3749816" cy="96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En blanco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sp>
        <p:nvSpPr>
          <p:cNvPr id="18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C049BA94-6E18-3EDA-7240-9D556D3ADBC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5600" y="12708830"/>
            <a:ext cx="3749816" cy="96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 f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Cuenco de ensalada con arroz frito, huevos duros y palillos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8" name="Cuenco con pasteles de salmón, ensalada y hummus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9" name="Cuenco de pappardelle con mantequilla de perejil, avellanas tostadas y lascas de queso parmesano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3 fotos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Cuenco de ensalada con arroz frito, huevos duros y palillos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8" name="Cuenco con pasteles de salmón, ensalada y hummus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9" name="Cuenco de pappardelle con mantequilla de perejil, avellanas tostadas y lascas de queso parmesano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pic>
        <p:nvPicPr>
          <p:cNvPr id="200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sp>
        <p:nvSpPr>
          <p:cNvPr id="202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32CC4742-5AC1-C79B-CB2D-103ADD534C0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5600" y="12708830"/>
            <a:ext cx="3749816" cy="96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 f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Cuenco de ensalada con arroz frito, huevos duros y palillos"/>
          <p:cNvSpPr>
            <a:spLocks noGrp="1"/>
          </p:cNvSpPr>
          <p:nvPr>
            <p:ph type="pic" sz="half" idx="21"/>
          </p:nvPr>
        </p:nvSpPr>
        <p:spPr>
          <a:xfrm>
            <a:off x="12467095" y="1979684"/>
            <a:ext cx="11454099" cy="1117310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0" name="Cuenco de pappardelle con mantequilla de perejil, avellanas tostadas y lascas de queso parmesano"/>
          <p:cNvSpPr>
            <a:spLocks noGrp="1"/>
          </p:cNvSpPr>
          <p:nvPr>
            <p:ph type="pic" idx="22"/>
          </p:nvPr>
        </p:nvSpPr>
        <p:spPr>
          <a:xfrm>
            <a:off x="-540920" y="1756648"/>
            <a:ext cx="13400896" cy="1125788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sp>
        <p:nvSpPr>
          <p:cNvPr id="212" name="La Gran Idea"/>
          <p:cNvSpPr txBox="1"/>
          <p:nvPr/>
        </p:nvSpPr>
        <p:spPr>
          <a:xfrm>
            <a:off x="520700" y="596900"/>
            <a:ext cx="9779000" cy="143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algn="l">
              <a:lnSpc>
                <a:spcPct val="80000"/>
              </a:lnSpc>
              <a:defRPr sz="8500" b="1" spc="-170">
                <a:solidFill>
                  <a:srgbClr val="000000"/>
                </a:solidFill>
              </a:defRPr>
            </a:lvl1pPr>
          </a:lstStyle>
          <a:p>
            <a:r>
              <a:t>La Gran Idea</a:t>
            </a:r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2 fotos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Cuenco de ensalada con arroz frito, huevos duros y palillos"/>
          <p:cNvSpPr>
            <a:spLocks noGrp="1"/>
          </p:cNvSpPr>
          <p:nvPr>
            <p:ph type="pic" sz="half" idx="21"/>
          </p:nvPr>
        </p:nvSpPr>
        <p:spPr>
          <a:xfrm>
            <a:off x="12467095" y="1979684"/>
            <a:ext cx="11454099" cy="1117310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0" name="Cuenco de pappardelle con mantequilla de perejil, avellanas tostadas y lascas de queso parmesano"/>
          <p:cNvSpPr>
            <a:spLocks noGrp="1"/>
          </p:cNvSpPr>
          <p:nvPr>
            <p:ph type="pic" idx="22"/>
          </p:nvPr>
        </p:nvSpPr>
        <p:spPr>
          <a:xfrm>
            <a:off x="-540920" y="1756648"/>
            <a:ext cx="13400896" cy="1125788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sp>
        <p:nvSpPr>
          <p:cNvPr id="222" name="Título de la diapositiva"/>
          <p:cNvSpPr txBox="1"/>
          <p:nvPr/>
        </p:nvSpPr>
        <p:spPr>
          <a:xfrm>
            <a:off x="576297" y="715921"/>
            <a:ext cx="9779001" cy="143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algn="l" defTabSz="2121354">
              <a:lnSpc>
                <a:spcPct val="80000"/>
              </a:lnSpc>
              <a:defRPr sz="7394" b="1" spc="-147">
                <a:solidFill>
                  <a:srgbClr val="FFFFFF"/>
                </a:solidFill>
              </a:defRPr>
            </a:lvl1pPr>
          </a:lstStyle>
          <a:p>
            <a:r>
              <a:t>Título de la diapositiva</a:t>
            </a:r>
          </a:p>
        </p:txBody>
      </p:sp>
      <p:pic>
        <p:nvPicPr>
          <p:cNvPr id="223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2AAA4391-31A1-991F-DA1C-883D18698F3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5600" y="12708830"/>
            <a:ext cx="3749816" cy="96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cuenco de ensalada con arroz frito, huevos duros y palillos"/>
          <p:cNvSpPr>
            <a:spLocks noGrp="1"/>
          </p:cNvSpPr>
          <p:nvPr>
            <p:ph type="pic" idx="21"/>
          </p:nvPr>
        </p:nvSpPr>
        <p:spPr>
          <a:xfrm>
            <a:off x="-1333721" y="-5524547"/>
            <a:ext cx="27051234" cy="2164098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2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UPC-positiu-p3005.png" descr="UPC-positiu-p3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944" y="804729"/>
            <a:ext cx="6674319" cy="2001119"/>
          </a:xfrm>
          <a:prstGeom prst="rect">
            <a:avLst/>
          </a:prstGeom>
          <a:ln w="12700">
            <a:miter lim="400000"/>
          </a:ln>
        </p:spPr>
      </p:pic>
      <p:pic>
        <p:nvPicPr>
          <p:cNvPr id="241" name="Imagen" descr="Imag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7947" y="2358840"/>
            <a:ext cx="12688106" cy="8998320"/>
          </a:xfrm>
          <a:prstGeom prst="rect">
            <a:avLst/>
          </a:prstGeom>
          <a:ln w="12700">
            <a:miter lim="400000"/>
          </a:ln>
        </p:spPr>
      </p:pic>
      <p:sp>
        <p:nvSpPr>
          <p:cNvPr id="242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6953250" y="11823700"/>
            <a:ext cx="10477500" cy="1435100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Bef>
                <a:spcPts val="4500"/>
              </a:spcBef>
              <a:defRPr sz="4800" b="0" spc="0"/>
            </a:lvl1pPr>
          </a:lstStyle>
          <a:p>
            <a:r>
              <a:t>Título de la diapositiva</a:t>
            </a:r>
          </a:p>
        </p:txBody>
      </p:sp>
      <p:sp>
        <p:nvSpPr>
          <p:cNvPr id="243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3" name="Picture 2" descr="Hipoteca Caixabank - Genial Banking">
            <a:extLst>
              <a:ext uri="{FF2B5EF4-FFF2-40B4-BE49-F238E27FC236}">
                <a16:creationId xmlns:a16="http://schemas.microsoft.com/office/drawing/2014/main" id="{DB1600DA-C563-4D84-2C97-9FD3A3FA804E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31" b="26543"/>
          <a:stretch>
            <a:fillRect/>
          </a:stretch>
        </p:blipFill>
        <p:spPr bwMode="auto">
          <a:xfrm>
            <a:off x="17218451" y="1040220"/>
            <a:ext cx="5923101" cy="1530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ierre Spani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UPC-positiu-p3005.png" descr="UPC-positiu-p3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944" y="804729"/>
            <a:ext cx="6674319" cy="2001119"/>
          </a:xfrm>
          <a:prstGeom prst="rect">
            <a:avLst/>
          </a:prstGeom>
          <a:ln w="12700">
            <a:miter lim="400000"/>
          </a:ln>
        </p:spPr>
      </p:pic>
      <p:sp>
        <p:nvSpPr>
          <p:cNvPr id="252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6953250" y="11823700"/>
            <a:ext cx="10477500" cy="1435100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Bef>
                <a:spcPts val="4500"/>
              </a:spcBef>
              <a:defRPr sz="4800" b="0" spc="0"/>
            </a:lvl1pPr>
          </a:lstStyle>
          <a:p>
            <a:r>
              <a:t>Título de la diapositiva</a:t>
            </a:r>
          </a:p>
        </p:txBody>
      </p:sp>
      <p:sp>
        <p:nvSpPr>
          <p:cNvPr id="253" name="¡Gracias!"/>
          <p:cNvSpPr txBox="1"/>
          <p:nvPr/>
        </p:nvSpPr>
        <p:spPr>
          <a:xfrm>
            <a:off x="5049545" y="4079589"/>
            <a:ext cx="14284909" cy="554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5000">
                <a:solidFill>
                  <a:srgbClr val="000000"/>
                </a:solidFill>
                <a:latin typeface="Brush Script MT Italic"/>
                <a:ea typeface="Brush Script MT Italic"/>
                <a:cs typeface="Brush Script MT Italic"/>
                <a:sym typeface="Brush Script MT Italic"/>
              </a:defRPr>
            </a:lvl1pPr>
          </a:lstStyle>
          <a:p>
            <a:r>
              <a:t>¡Gracias!</a:t>
            </a:r>
          </a:p>
        </p:txBody>
      </p:sp>
      <p:sp>
        <p:nvSpPr>
          <p:cNvPr id="254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Hipoteca Caixabank - Genial Banking">
            <a:extLst>
              <a:ext uri="{FF2B5EF4-FFF2-40B4-BE49-F238E27FC236}">
                <a16:creationId xmlns:a16="http://schemas.microsoft.com/office/drawing/2014/main" id="{72C01F63-C0F9-274C-2FDC-FC80FFDF242D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31" b="26543"/>
          <a:stretch>
            <a:fillRect/>
          </a:stretch>
        </p:blipFill>
        <p:spPr bwMode="auto">
          <a:xfrm>
            <a:off x="17218451" y="1040220"/>
            <a:ext cx="5923101" cy="1530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0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ierre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6953250" y="11823700"/>
            <a:ext cx="10477500" cy="1435100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Bef>
                <a:spcPts val="4500"/>
              </a:spcBef>
              <a:defRPr sz="4800" b="0" spc="0">
                <a:solidFill>
                  <a:srgbClr val="FFFFFF"/>
                </a:solidFill>
              </a:defRPr>
            </a:lvl1pPr>
          </a:lstStyle>
          <a:p>
            <a:r>
              <a:t>Título de la diapositiva</a:t>
            </a:r>
          </a:p>
        </p:txBody>
      </p:sp>
      <p:pic>
        <p:nvPicPr>
          <p:cNvPr id="262" name="Imagen" descr="Imag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6812" y="2494715"/>
            <a:ext cx="8999903" cy="8576085"/>
          </a:xfrm>
          <a:prstGeom prst="rect">
            <a:avLst/>
          </a:prstGeom>
          <a:ln w="12700">
            <a:miter lim="400000"/>
          </a:ln>
        </p:spPr>
      </p:pic>
      <p:pic>
        <p:nvPicPr>
          <p:cNvPr id="263" name="UPC-blanc-fons-transp.png" descr="UPC-blanc-fons-trans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800" y="803847"/>
            <a:ext cx="6680200" cy="2002883"/>
          </a:xfrm>
          <a:prstGeom prst="rect">
            <a:avLst/>
          </a:prstGeom>
          <a:ln w="12700">
            <a:miter lim="400000"/>
          </a:ln>
        </p:spPr>
      </p:pic>
      <p:sp>
        <p:nvSpPr>
          <p:cNvPr id="265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0BA7670F-8B53-2BE7-9E8F-36267782545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30750" y="1060112"/>
            <a:ext cx="5816006" cy="1490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ierre azul Spanish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6953250" y="11823700"/>
            <a:ext cx="10477500" cy="1435100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Bef>
                <a:spcPts val="4500"/>
              </a:spcBef>
              <a:defRPr sz="4800" b="0" spc="0">
                <a:solidFill>
                  <a:srgbClr val="FFFFFF"/>
                </a:solidFill>
              </a:defRPr>
            </a:lvl1pPr>
          </a:lstStyle>
          <a:p>
            <a:r>
              <a:rPr dirty="0" err="1"/>
              <a:t>Título</a:t>
            </a:r>
            <a:r>
              <a:rPr dirty="0"/>
              <a:t> de la </a:t>
            </a:r>
            <a:r>
              <a:rPr dirty="0" err="1"/>
              <a:t>diapositiva</a:t>
            </a:r>
            <a:endParaRPr dirty="0"/>
          </a:p>
        </p:txBody>
      </p:sp>
      <p:pic>
        <p:nvPicPr>
          <p:cNvPr id="273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803847"/>
            <a:ext cx="6680200" cy="2002883"/>
          </a:xfrm>
          <a:prstGeom prst="rect">
            <a:avLst/>
          </a:prstGeom>
          <a:ln w="12700">
            <a:miter lim="400000"/>
          </a:ln>
        </p:spPr>
      </p:pic>
      <p:sp>
        <p:nvSpPr>
          <p:cNvPr id="275" name="¡Gracias!"/>
          <p:cNvSpPr txBox="1"/>
          <p:nvPr/>
        </p:nvSpPr>
        <p:spPr>
          <a:xfrm>
            <a:off x="5049545" y="4079589"/>
            <a:ext cx="14284909" cy="554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5000">
                <a:solidFill>
                  <a:srgbClr val="FFFFFF"/>
                </a:solidFill>
                <a:latin typeface="Brush Script MT Italic"/>
                <a:ea typeface="Brush Script MT Italic"/>
                <a:cs typeface="Brush Script MT Italic"/>
                <a:sym typeface="Brush Script MT Italic"/>
              </a:defRPr>
            </a:lvl1pPr>
          </a:lstStyle>
          <a:p>
            <a:r>
              <a:rPr dirty="0"/>
              <a:t>¡Gracias!</a:t>
            </a:r>
          </a:p>
        </p:txBody>
      </p:sp>
      <p:sp>
        <p:nvSpPr>
          <p:cNvPr id="276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884FE520-0349-B1EA-C51F-A94D7F4EE19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30750" y="1060112"/>
            <a:ext cx="5816006" cy="1490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Texto del título"/>
          <p:cNvSpPr txBox="1">
            <a:spLocks noGrp="1"/>
          </p:cNvSpPr>
          <p:nvPr>
            <p:ph type="title"/>
          </p:nvPr>
        </p:nvSpPr>
        <p:spPr>
          <a:xfrm>
            <a:off x="831199" y="1186733"/>
            <a:ext cx="22721602" cy="1527201"/>
          </a:xfrm>
          <a:prstGeom prst="rect">
            <a:avLst/>
          </a:prstGeom>
        </p:spPr>
        <p:txBody>
          <a:bodyPr lIns="91399" tIns="91399" rIns="91399" bIns="91399"/>
          <a:lstStyle>
            <a:lvl1pPr defTabSz="2438400">
              <a:lnSpc>
                <a:spcPct val="90000"/>
              </a:lnSpc>
              <a:defRPr sz="6400" spc="0">
                <a:solidFill>
                  <a:srgbClr val="009EE0"/>
                </a:solidFill>
                <a:latin typeface="Tahoma"/>
                <a:ea typeface="Tahoma"/>
                <a:cs typeface="Tahoma"/>
                <a:sym typeface="Tahoma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318" name="Nivel de texto 1…"/>
          <p:cNvSpPr txBox="1">
            <a:spLocks noGrp="1"/>
          </p:cNvSpPr>
          <p:nvPr>
            <p:ph type="body" idx="1"/>
          </p:nvPr>
        </p:nvSpPr>
        <p:spPr>
          <a:xfrm>
            <a:off x="831199" y="3073266"/>
            <a:ext cx="22721602" cy="9110401"/>
          </a:xfrm>
          <a:prstGeom prst="rect">
            <a:avLst/>
          </a:prstGeom>
        </p:spPr>
        <p:txBody>
          <a:bodyPr lIns="243799" tIns="243799" rIns="243799" bIns="243799" anchor="ctr"/>
          <a:lstStyle>
            <a:lvl1pPr marL="956128" indent="-816428" defTabSz="2438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3600"/>
              <a:buFont typeface="Arial"/>
              <a:buChar char="●"/>
              <a:defRPr sz="3600">
                <a:latin typeface="Arial"/>
                <a:ea typeface="Arial"/>
                <a:cs typeface="Arial"/>
                <a:sym typeface="Arial"/>
              </a:defRPr>
            </a:lvl1pPr>
            <a:lvl2pPr marL="1413328" indent="-816428" defTabSz="2438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3600"/>
              <a:buFont typeface="Arial"/>
              <a:buChar char="○"/>
              <a:defRPr sz="3600">
                <a:latin typeface="Arial"/>
                <a:ea typeface="Arial"/>
                <a:cs typeface="Arial"/>
                <a:sym typeface="Arial"/>
              </a:defRPr>
            </a:lvl2pPr>
            <a:lvl3pPr marL="1870528" indent="-816428" defTabSz="2438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3600"/>
              <a:buFont typeface="Arial"/>
              <a:buChar char="■"/>
              <a:defRPr sz="3600">
                <a:latin typeface="Arial"/>
                <a:ea typeface="Arial"/>
                <a:cs typeface="Arial"/>
                <a:sym typeface="Arial"/>
              </a:defRPr>
            </a:lvl3pPr>
            <a:lvl4pPr marL="2327728" indent="-816428" defTabSz="2438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3600"/>
              <a:buFont typeface="Arial"/>
              <a:buChar char="●"/>
              <a:defRPr sz="3600">
                <a:latin typeface="Arial"/>
                <a:ea typeface="Arial"/>
                <a:cs typeface="Arial"/>
                <a:sym typeface="Arial"/>
              </a:defRPr>
            </a:lvl4pPr>
            <a:lvl5pPr marL="2784928" indent="-816428" defTabSz="2438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3600"/>
              <a:buFont typeface="Arial"/>
              <a:buChar char="○"/>
              <a:defRPr sz="3600"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319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23639068" y="12747995"/>
            <a:ext cx="417354" cy="424101"/>
          </a:xfrm>
          <a:prstGeom prst="rect">
            <a:avLst/>
          </a:prstGeom>
        </p:spPr>
        <p:txBody>
          <a:bodyPr lIns="91399" tIns="91399" rIns="91399" bIns="91399" anchor="ctr"/>
          <a:lstStyle>
            <a:lvl1pPr algn="r" defTabSz="2438400">
              <a:defRPr sz="1600">
                <a:solidFill>
                  <a:srgbClr val="009EE0"/>
                </a:solidFill>
                <a:latin typeface="Tahoma"/>
                <a:ea typeface="Tahoma"/>
                <a:cs typeface="Tahoma"/>
                <a:sym typeface="Tahoma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Título de la diapositiva</a:t>
            </a:r>
          </a:p>
        </p:txBody>
      </p:sp>
      <p:sp>
        <p:nvSpPr>
          <p:cNvPr id="3" name="Nivel de texto 1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Texto de viñeta de la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5" name="UPC-positiu-p3005.png" descr="UPC-positiu-p3005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0856144" y="12660868"/>
            <a:ext cx="3514106" cy="1053613"/>
          </a:xfrm>
          <a:prstGeom prst="rect">
            <a:avLst/>
          </a:prstGeom>
          <a:ln w="12700">
            <a:miter lim="400000"/>
          </a:ln>
        </p:spPr>
      </p:pic>
      <p:sp>
        <p:nvSpPr>
          <p:cNvPr id="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1026" name="Picture 2" descr="Hipoteca Caixabank - Genial Banking">
            <a:extLst>
              <a:ext uri="{FF2B5EF4-FFF2-40B4-BE49-F238E27FC236}">
                <a16:creationId xmlns:a16="http://schemas.microsoft.com/office/drawing/2014/main" id="{9D029EDC-DB83-5330-D10A-C2668AAE0957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31" b="26543"/>
          <a:stretch>
            <a:fillRect/>
          </a:stretch>
        </p:blipFill>
        <p:spPr bwMode="auto">
          <a:xfrm>
            <a:off x="17096023" y="12728883"/>
            <a:ext cx="3514105" cy="907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8" r:id="rId25"/>
  </p:sldLayoutIdLst>
  <p:transition spd="med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 userDrawn="1">
          <p15:clr>
            <a:srgbClr val="F26B43"/>
          </p15:clr>
        </p15:guide>
        <p15:guide id="2" pos="76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Dr. Vicenç Fernández Alarcón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 lnSpcReduction="10000"/>
          </a:bodyPr>
          <a:lstStyle/>
          <a:p>
            <a:r>
              <a:rPr lang="es-ES" dirty="0"/>
              <a:t>Sergi </a:t>
            </a:r>
            <a:r>
              <a:rPr lang="es-ES" dirty="0" err="1"/>
              <a:t>Ramirez</a:t>
            </a:r>
            <a:r>
              <a:rPr lang="es-ES" dirty="0"/>
              <a:t> Mitjans</a:t>
            </a:r>
          </a:p>
          <a:p>
            <a:endParaRPr dirty="0"/>
          </a:p>
        </p:txBody>
      </p:sp>
      <p:sp>
        <p:nvSpPr>
          <p:cNvPr id="347" name="Storytelling con datos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 b="1" i="0" u="none" strike="noStrike" dirty="0" err="1">
                <a:solidFill>
                  <a:schemeClr val="bg2">
                    <a:lumMod val="10000"/>
                  </a:schemeClr>
                </a:solidFill>
                <a:effectLst/>
                <a:latin typeface="Mona Sans VF"/>
              </a:rPr>
              <a:t>Model</a:t>
            </a:r>
            <a:r>
              <a:rPr lang="es-ES" b="1" i="0" u="none" strike="noStrike" dirty="0">
                <a:solidFill>
                  <a:schemeClr val="bg2">
                    <a:lumMod val="10000"/>
                  </a:schemeClr>
                </a:solidFill>
                <a:effectLst/>
                <a:latin typeface="Mona Sans VF"/>
              </a:rPr>
              <a:t> </a:t>
            </a:r>
            <a:r>
              <a:rPr lang="es-ES" b="1" i="0" u="none" strike="noStrike" dirty="0" err="1">
                <a:solidFill>
                  <a:schemeClr val="bg2">
                    <a:lumMod val="10000"/>
                  </a:schemeClr>
                </a:solidFill>
                <a:effectLst/>
                <a:latin typeface="Mona Sans VF"/>
              </a:rPr>
              <a:t>Risk</a:t>
            </a:r>
            <a:r>
              <a:rPr lang="es-ES" b="1" i="0" u="none" strike="noStrike" dirty="0">
                <a:solidFill>
                  <a:schemeClr val="bg2">
                    <a:lumMod val="10000"/>
                  </a:schemeClr>
                </a:solidFill>
                <a:effectLst/>
                <a:latin typeface="Mona Sans VF"/>
              </a:rPr>
              <a:t> &amp; Data </a:t>
            </a:r>
            <a:r>
              <a:rPr lang="es-ES" b="1" i="0" u="none" strike="noStrike" dirty="0" err="1">
                <a:solidFill>
                  <a:schemeClr val="bg2">
                    <a:lumMod val="10000"/>
                  </a:schemeClr>
                </a:solidFill>
                <a:effectLst/>
                <a:latin typeface="Mona Sans VF"/>
              </a:rPr>
              <a:t>Science</a:t>
            </a:r>
            <a:r>
              <a:rPr lang="es-ES" b="1" i="0" u="none" strike="noStrike" dirty="0">
                <a:solidFill>
                  <a:schemeClr val="bg2">
                    <a:lumMod val="10000"/>
                  </a:schemeClr>
                </a:solidFill>
                <a:effectLst/>
                <a:latin typeface="Mona Sans VF"/>
              </a:rPr>
              <a:t> Training</a:t>
            </a:r>
          </a:p>
        </p:txBody>
      </p:sp>
      <p:sp>
        <p:nvSpPr>
          <p:cNvPr id="348" name="¡¡¡Contando historias!!!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 b="1" i="0" u="none" strike="noStrike" dirty="0">
                <a:solidFill>
                  <a:schemeClr val="tx1"/>
                </a:solidFill>
                <a:effectLst/>
                <a:latin typeface="Mona Sans VF"/>
              </a:rPr>
              <a:t>CaixaBank · </a:t>
            </a:r>
            <a:r>
              <a:rPr lang="es-ES" b="1" i="0" u="none" strike="noStrike" dirty="0" err="1">
                <a:solidFill>
                  <a:schemeClr val="tx1"/>
                </a:solidFill>
                <a:effectLst/>
                <a:latin typeface="Mona Sans VF"/>
              </a:rPr>
              <a:t>Advanced</a:t>
            </a:r>
            <a:r>
              <a:rPr lang="es-ES" b="1" i="0" u="none" strike="noStrike" dirty="0">
                <a:solidFill>
                  <a:schemeClr val="tx1"/>
                </a:solidFill>
                <a:effectLst/>
                <a:latin typeface="Mona Sans VF"/>
              </a:rPr>
              <a:t> </a:t>
            </a:r>
            <a:r>
              <a:rPr lang="es-ES" b="1" i="0" u="none" strike="noStrike" dirty="0" err="1">
                <a:solidFill>
                  <a:schemeClr val="tx1"/>
                </a:solidFill>
                <a:effectLst/>
                <a:latin typeface="Mona Sans VF"/>
              </a:rPr>
              <a:t>Analytics</a:t>
            </a:r>
            <a:r>
              <a:rPr lang="es-ES" b="1" i="0" u="none" strike="noStrike" dirty="0">
                <a:solidFill>
                  <a:schemeClr val="tx1"/>
                </a:solidFill>
                <a:effectLst/>
                <a:latin typeface="Mona Sans VF"/>
              </a:rPr>
              <a:t> </a:t>
            </a:r>
            <a:r>
              <a:rPr lang="es-ES" b="1" i="0" u="none" strike="noStrike" dirty="0" err="1">
                <a:solidFill>
                  <a:schemeClr val="tx1"/>
                </a:solidFill>
                <a:effectLst/>
                <a:latin typeface="Mona Sans VF"/>
              </a:rPr>
              <a:t>Program</a:t>
            </a:r>
            <a:endParaRPr lang="es-ES" b="1" i="0" u="none" strike="noStrike" dirty="0">
              <a:solidFill>
                <a:schemeClr val="tx1"/>
              </a:solidFill>
              <a:effectLst/>
              <a:latin typeface="Mona Sans VF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941FC7A1-2CE2-A606-58B3-7BDE8EAC2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766104" y="664368"/>
            <a:ext cx="13536081" cy="12387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99412023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D903E-0335-BE61-BD6B-FB3F8CAC6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uadroTexto 25">
            <a:extLst>
              <a:ext uri="{FF2B5EF4-FFF2-40B4-BE49-F238E27FC236}">
                <a16:creationId xmlns:a16="http://schemas.microsoft.com/office/drawing/2014/main" id="{DD84C0C8-4C70-8D58-A544-87BAB76D6E5B}"/>
              </a:ext>
            </a:extLst>
          </p:cNvPr>
          <p:cNvSpPr txBox="1"/>
          <p:nvPr/>
        </p:nvSpPr>
        <p:spPr>
          <a:xfrm>
            <a:off x="1417814" y="3879559"/>
            <a:ext cx="1905444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r>
              <a:rPr lang="es-ES" sz="8800" b="1" dirty="0">
                <a:solidFill>
                  <a:srgbClr val="3479BB"/>
                </a:solidFill>
                <a:latin typeface="Montserrat" pitchFamily="2" charset="77"/>
              </a:rPr>
              <a:t>1. 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5E42FA19-8765-EF4D-0310-705A62EE2BBD}"/>
              </a:ext>
            </a:extLst>
          </p:cNvPr>
          <p:cNvSpPr txBox="1"/>
          <p:nvPr/>
        </p:nvSpPr>
        <p:spPr>
          <a:xfrm>
            <a:off x="8351520" y="8006459"/>
            <a:ext cx="15016480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pPr algn="r"/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1.  Modelos supervisados</a:t>
            </a:r>
          </a:p>
        </p:txBody>
      </p:sp>
    </p:spTree>
    <p:extLst>
      <p:ext uri="{BB962C8B-B14F-4D97-AF65-F5344CB8AC3E}">
        <p14:creationId xmlns:p14="http://schemas.microsoft.com/office/powerpoint/2010/main" val="892759005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5D213-98AD-484E-ED8B-4F787C9A6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uadroTexto 25">
            <a:extLst>
              <a:ext uri="{FF2B5EF4-FFF2-40B4-BE49-F238E27FC236}">
                <a16:creationId xmlns:a16="http://schemas.microsoft.com/office/drawing/2014/main" id="{5F4C3C3D-6360-816C-9538-FF26EEE56498}"/>
              </a:ext>
            </a:extLst>
          </p:cNvPr>
          <p:cNvSpPr txBox="1"/>
          <p:nvPr/>
        </p:nvSpPr>
        <p:spPr>
          <a:xfrm>
            <a:off x="1417814" y="3879559"/>
            <a:ext cx="1905444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r>
              <a:rPr lang="es-ES" sz="8800" b="1" dirty="0">
                <a:solidFill>
                  <a:srgbClr val="3479BB"/>
                </a:solidFill>
                <a:latin typeface="Montserrat" pitchFamily="2" charset="77"/>
              </a:rPr>
              <a:t>1. 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5ED8B24D-D0A3-6575-5619-1271E66A880F}"/>
              </a:ext>
            </a:extLst>
          </p:cNvPr>
          <p:cNvSpPr txBox="1"/>
          <p:nvPr/>
        </p:nvSpPr>
        <p:spPr>
          <a:xfrm>
            <a:off x="8351520" y="8006459"/>
            <a:ext cx="15016480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pPr algn="r"/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2.  Modelos lineales generalizados </a:t>
            </a:r>
          </a:p>
        </p:txBody>
      </p:sp>
    </p:spTree>
    <p:extLst>
      <p:ext uri="{BB962C8B-B14F-4D97-AF65-F5344CB8AC3E}">
        <p14:creationId xmlns:p14="http://schemas.microsoft.com/office/powerpoint/2010/main" val="1268194915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38A64-BCF3-0738-8F00-F6254B3C1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uadroTexto 25">
            <a:extLst>
              <a:ext uri="{FF2B5EF4-FFF2-40B4-BE49-F238E27FC236}">
                <a16:creationId xmlns:a16="http://schemas.microsoft.com/office/drawing/2014/main" id="{24B046AC-0743-2DB5-7246-3C15513B745C}"/>
              </a:ext>
            </a:extLst>
          </p:cNvPr>
          <p:cNvSpPr txBox="1"/>
          <p:nvPr/>
        </p:nvSpPr>
        <p:spPr>
          <a:xfrm>
            <a:off x="1417814" y="3879559"/>
            <a:ext cx="1905444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r>
              <a:rPr lang="es-ES" sz="8800" b="1" dirty="0">
                <a:solidFill>
                  <a:srgbClr val="3479BB"/>
                </a:solidFill>
                <a:latin typeface="Montserrat" pitchFamily="2" charset="77"/>
              </a:rPr>
              <a:t>1. 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FF1198CA-E540-40B2-FA95-17A2FBD3DA45}"/>
              </a:ext>
            </a:extLst>
          </p:cNvPr>
          <p:cNvSpPr txBox="1"/>
          <p:nvPr/>
        </p:nvSpPr>
        <p:spPr>
          <a:xfrm>
            <a:off x="8351520" y="8006459"/>
            <a:ext cx="15016480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pPr algn="r"/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3.  Árboles de decisión</a:t>
            </a:r>
          </a:p>
        </p:txBody>
      </p:sp>
    </p:spTree>
    <p:extLst>
      <p:ext uri="{BB962C8B-B14F-4D97-AF65-F5344CB8AC3E}">
        <p14:creationId xmlns:p14="http://schemas.microsoft.com/office/powerpoint/2010/main" val="3102087876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27486-3B44-CCB1-5762-08157B22B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uadroTexto 25">
            <a:extLst>
              <a:ext uri="{FF2B5EF4-FFF2-40B4-BE49-F238E27FC236}">
                <a16:creationId xmlns:a16="http://schemas.microsoft.com/office/drawing/2014/main" id="{F615E401-48D9-DF72-5EC1-B6990AA880B6}"/>
              </a:ext>
            </a:extLst>
          </p:cNvPr>
          <p:cNvSpPr txBox="1"/>
          <p:nvPr/>
        </p:nvSpPr>
        <p:spPr>
          <a:xfrm>
            <a:off x="1417814" y="3879559"/>
            <a:ext cx="1905444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r>
              <a:rPr lang="es-ES" sz="8800" b="1" dirty="0">
                <a:solidFill>
                  <a:srgbClr val="3479BB"/>
                </a:solidFill>
                <a:latin typeface="Montserrat" pitchFamily="2" charset="77"/>
              </a:rPr>
              <a:t>1. 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D06AACBE-E58B-81E6-32DB-C4555014F09B}"/>
              </a:ext>
            </a:extLst>
          </p:cNvPr>
          <p:cNvSpPr txBox="1"/>
          <p:nvPr/>
        </p:nvSpPr>
        <p:spPr>
          <a:xfrm>
            <a:off x="8351520" y="8006459"/>
            <a:ext cx="15016480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pPr marL="1371600" indent="-1371600" algn="r">
              <a:buAutoNum type="arabicPeriod" startAt="4"/>
            </a:pPr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 </a:t>
            </a:r>
            <a:r>
              <a:rPr lang="es-ES" sz="11500" b="1" dirty="0" err="1">
                <a:solidFill>
                  <a:srgbClr val="F2F2F2"/>
                </a:solidFill>
                <a:latin typeface="Montserrat" pitchFamily="2" charset="77"/>
              </a:rPr>
              <a:t>Bagging</a:t>
            </a:r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 </a:t>
            </a:r>
            <a:r>
              <a:rPr lang="es-ES" sz="11500" b="1" dirty="0" err="1">
                <a:solidFill>
                  <a:srgbClr val="F2F2F2"/>
                </a:solidFill>
                <a:latin typeface="Montserrat" pitchFamily="2" charset="77"/>
              </a:rPr>
              <a:t>models</a:t>
            </a:r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:  </a:t>
            </a:r>
          </a:p>
          <a:p>
            <a:pPr algn="r"/>
            <a:r>
              <a:rPr lang="es-ES" sz="11500" b="1" dirty="0" err="1">
                <a:solidFill>
                  <a:srgbClr val="F2F2F2"/>
                </a:solidFill>
                <a:latin typeface="Montserrat" pitchFamily="2" charset="77"/>
              </a:rPr>
              <a:t>Random</a:t>
            </a:r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 Forest</a:t>
            </a:r>
          </a:p>
        </p:txBody>
      </p:sp>
    </p:spTree>
    <p:extLst>
      <p:ext uri="{BB962C8B-B14F-4D97-AF65-F5344CB8AC3E}">
        <p14:creationId xmlns:p14="http://schemas.microsoft.com/office/powerpoint/2010/main" val="58496880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813ED-47B1-C7C0-ECB0-809269841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1D1D47F-9072-9C7B-072B-22A521695B66}"/>
              </a:ext>
            </a:extLst>
          </p:cNvPr>
          <p:cNvSpPr txBox="1"/>
          <p:nvPr/>
        </p:nvSpPr>
        <p:spPr>
          <a:xfrm>
            <a:off x="2755900" y="4936961"/>
            <a:ext cx="18872200" cy="38420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24300" b="0" i="0" u="none" strike="noStrike" cap="none" spc="0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uFillTx/>
                <a:latin typeface="Script MT Bold" panose="03040602040607080904" pitchFamily="66" charset="0"/>
                <a:ea typeface="ADLaM Display" panose="02010000000000000000" pitchFamily="2" charset="0"/>
                <a:cs typeface="ADLaM Display" panose="02010000000000000000" pitchFamily="2" charset="0"/>
                <a:sym typeface="Helvetica Neue"/>
              </a:rPr>
              <a:t>End</a:t>
            </a:r>
            <a:r>
              <a:rPr kumimoji="0" lang="es-ES" sz="243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Script MT Bold" panose="03040602040607080904" pitchFamily="66" charset="0"/>
                <a:ea typeface="ADLaM Display" panose="02010000000000000000" pitchFamily="2" charset="0"/>
                <a:cs typeface="ADLaM Display" panose="02010000000000000000" pitchFamily="2" charset="0"/>
                <a:sym typeface="Helvetica Neue"/>
              </a:rPr>
              <a:t> </a:t>
            </a:r>
            <a:r>
              <a:rPr kumimoji="0" lang="es-ES" sz="24300" b="0" i="0" u="none" strike="noStrike" cap="none" spc="0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uFillTx/>
                <a:latin typeface="Script MT Bold" panose="03040602040607080904" pitchFamily="66" charset="0"/>
                <a:ea typeface="ADLaM Display" panose="02010000000000000000" pitchFamily="2" charset="0"/>
                <a:cs typeface="ADLaM Display" panose="02010000000000000000" pitchFamily="2" charset="0"/>
                <a:sym typeface="Helvetica Neue"/>
              </a:rPr>
              <a:t>the</a:t>
            </a:r>
            <a:r>
              <a:rPr kumimoji="0" lang="es-ES" sz="243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Script MT Bold" panose="03040602040607080904" pitchFamily="66" charset="0"/>
                <a:ea typeface="ADLaM Display" panose="02010000000000000000" pitchFamily="2" charset="0"/>
                <a:cs typeface="ADLaM Display" panose="02010000000000000000" pitchFamily="2" charset="0"/>
                <a:sym typeface="Helvetica Neue"/>
              </a:rPr>
              <a:t> </a:t>
            </a:r>
            <a:r>
              <a:rPr kumimoji="0" lang="es-ES" sz="24300" b="0" i="0" u="none" strike="noStrike" cap="none" spc="0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uFillTx/>
                <a:latin typeface="Script MT Bold" panose="03040602040607080904" pitchFamily="66" charset="0"/>
                <a:ea typeface="ADLaM Display" panose="02010000000000000000" pitchFamily="2" charset="0"/>
                <a:cs typeface="ADLaM Display" panose="02010000000000000000" pitchFamily="2" charset="0"/>
                <a:sym typeface="Helvetica Neue"/>
              </a:rPr>
              <a:t>day</a:t>
            </a:r>
            <a:r>
              <a:rPr kumimoji="0" lang="es-ES" sz="243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Script MT Bold" panose="03040602040607080904" pitchFamily="66" charset="0"/>
                <a:ea typeface="ADLaM Display" panose="02010000000000000000" pitchFamily="2" charset="0"/>
                <a:cs typeface="ADLaM Display" panose="02010000000000000000" pitchFamily="2" charset="0"/>
                <a:sym typeface="Helvetica Neue"/>
              </a:rPr>
              <a:t> 1</a:t>
            </a:r>
          </a:p>
        </p:txBody>
      </p:sp>
    </p:spTree>
    <p:extLst>
      <p:ext uri="{BB962C8B-B14F-4D97-AF65-F5344CB8AC3E}">
        <p14:creationId xmlns:p14="http://schemas.microsoft.com/office/powerpoint/2010/main" val="67953572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79EB2-75A3-2FE4-FCCE-8B1AC5512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uadroTexto 25">
            <a:extLst>
              <a:ext uri="{FF2B5EF4-FFF2-40B4-BE49-F238E27FC236}">
                <a16:creationId xmlns:a16="http://schemas.microsoft.com/office/drawing/2014/main" id="{618B768D-D6B3-9E58-88AC-A1EA30BAE42A}"/>
              </a:ext>
            </a:extLst>
          </p:cNvPr>
          <p:cNvSpPr txBox="1"/>
          <p:nvPr/>
        </p:nvSpPr>
        <p:spPr>
          <a:xfrm>
            <a:off x="1417814" y="3879559"/>
            <a:ext cx="1905444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r>
              <a:rPr lang="es-ES" sz="8800" b="1" dirty="0">
                <a:solidFill>
                  <a:srgbClr val="3479BB"/>
                </a:solidFill>
                <a:latin typeface="Montserrat" pitchFamily="2" charset="77"/>
              </a:rPr>
              <a:t>1. 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235214DA-E2B5-3350-EEC5-F8D12C4C48A2}"/>
              </a:ext>
            </a:extLst>
          </p:cNvPr>
          <p:cNvSpPr txBox="1"/>
          <p:nvPr/>
        </p:nvSpPr>
        <p:spPr>
          <a:xfrm>
            <a:off x="2783840" y="7256664"/>
            <a:ext cx="20706080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pPr algn="r"/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5. </a:t>
            </a:r>
            <a:r>
              <a:rPr lang="es-ES" sz="11500" b="1" dirty="0" err="1">
                <a:solidFill>
                  <a:srgbClr val="F2F2F2"/>
                </a:solidFill>
                <a:latin typeface="Montserrat" pitchFamily="2" charset="77"/>
              </a:rPr>
              <a:t>Boosting</a:t>
            </a:r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 </a:t>
            </a:r>
            <a:r>
              <a:rPr lang="es-ES" sz="11500" b="1" dirty="0" err="1">
                <a:solidFill>
                  <a:srgbClr val="F2F2F2"/>
                </a:solidFill>
                <a:latin typeface="Montserrat" pitchFamily="2" charset="77"/>
              </a:rPr>
              <a:t>models</a:t>
            </a:r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:</a:t>
            </a:r>
          </a:p>
          <a:p>
            <a:pPr algn="r"/>
            <a:r>
              <a:rPr lang="es-ES" sz="11500" b="1" dirty="0" err="1">
                <a:solidFill>
                  <a:srgbClr val="F2F2F2"/>
                </a:solidFill>
                <a:latin typeface="Montserrat" pitchFamily="2" charset="77"/>
              </a:rPr>
              <a:t>XGBoost</a:t>
            </a:r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, </a:t>
            </a:r>
            <a:r>
              <a:rPr lang="es-ES" sz="11500" b="1" dirty="0" err="1">
                <a:solidFill>
                  <a:srgbClr val="F2F2F2"/>
                </a:solidFill>
                <a:latin typeface="Montserrat" pitchFamily="2" charset="77"/>
              </a:rPr>
              <a:t>AdaBoost</a:t>
            </a:r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, </a:t>
            </a:r>
            <a:r>
              <a:rPr lang="es-ES" sz="11500" b="1" dirty="0" err="1">
                <a:solidFill>
                  <a:srgbClr val="F2F2F2"/>
                </a:solidFill>
                <a:latin typeface="Montserrat" pitchFamily="2" charset="77"/>
              </a:rPr>
              <a:t>CatBoost</a:t>
            </a:r>
            <a:endParaRPr lang="es-ES" sz="11500" b="1" dirty="0">
              <a:solidFill>
                <a:srgbClr val="F2F2F2"/>
              </a:solidFill>
              <a:latin typeface="Montserra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09224401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46490-BBA7-5FA7-5B8B-E2D84F88B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uadroTexto 25">
            <a:extLst>
              <a:ext uri="{FF2B5EF4-FFF2-40B4-BE49-F238E27FC236}">
                <a16:creationId xmlns:a16="http://schemas.microsoft.com/office/drawing/2014/main" id="{9DB372C2-1EFC-9267-7FEB-A0B9F14A2ACE}"/>
              </a:ext>
            </a:extLst>
          </p:cNvPr>
          <p:cNvSpPr txBox="1"/>
          <p:nvPr/>
        </p:nvSpPr>
        <p:spPr>
          <a:xfrm>
            <a:off x="1417814" y="3879559"/>
            <a:ext cx="1905444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r>
              <a:rPr lang="es-ES" sz="8800" b="1" dirty="0">
                <a:solidFill>
                  <a:srgbClr val="3479BB"/>
                </a:solidFill>
                <a:latin typeface="Montserrat" pitchFamily="2" charset="77"/>
              </a:rPr>
              <a:t>1. 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89E07715-59A9-641E-4408-39D81867300A}"/>
              </a:ext>
            </a:extLst>
          </p:cNvPr>
          <p:cNvSpPr txBox="1"/>
          <p:nvPr/>
        </p:nvSpPr>
        <p:spPr>
          <a:xfrm>
            <a:off x="9527458" y="7256664"/>
            <a:ext cx="13962462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pPr algn="r"/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6. </a:t>
            </a:r>
            <a:r>
              <a:rPr lang="es-ES" sz="11500" b="1" dirty="0" err="1">
                <a:solidFill>
                  <a:srgbClr val="F2F2F2"/>
                </a:solidFill>
                <a:latin typeface="Montserrat" pitchFamily="2" charset="77"/>
              </a:rPr>
              <a:t>Support</a:t>
            </a:r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 Vector Machine (SVM)</a:t>
            </a:r>
          </a:p>
        </p:txBody>
      </p:sp>
    </p:spTree>
    <p:extLst>
      <p:ext uri="{BB962C8B-B14F-4D97-AF65-F5344CB8AC3E}">
        <p14:creationId xmlns:p14="http://schemas.microsoft.com/office/powerpoint/2010/main" val="916019761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B1616-6718-B9D5-223D-65F15C5B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uadroTexto 25">
            <a:extLst>
              <a:ext uri="{FF2B5EF4-FFF2-40B4-BE49-F238E27FC236}">
                <a16:creationId xmlns:a16="http://schemas.microsoft.com/office/drawing/2014/main" id="{DA140309-F701-0D0F-3299-6A55CD01E524}"/>
              </a:ext>
            </a:extLst>
          </p:cNvPr>
          <p:cNvSpPr txBox="1"/>
          <p:nvPr/>
        </p:nvSpPr>
        <p:spPr>
          <a:xfrm>
            <a:off x="1417814" y="3879559"/>
            <a:ext cx="1905444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r>
              <a:rPr lang="es-ES" sz="8800" b="1" dirty="0">
                <a:solidFill>
                  <a:srgbClr val="3479BB"/>
                </a:solidFill>
                <a:latin typeface="Montserrat" pitchFamily="2" charset="77"/>
              </a:rPr>
              <a:t>1. 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678EB100-5C5A-6CCE-3846-6D5093E389E9}"/>
              </a:ext>
            </a:extLst>
          </p:cNvPr>
          <p:cNvSpPr txBox="1"/>
          <p:nvPr/>
        </p:nvSpPr>
        <p:spPr>
          <a:xfrm>
            <a:off x="2783840" y="7256664"/>
            <a:ext cx="20706080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pPr algn="r"/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7. Evaluación e interpretabilidad de modelos</a:t>
            </a:r>
          </a:p>
        </p:txBody>
      </p:sp>
    </p:spTree>
    <p:extLst>
      <p:ext uri="{BB962C8B-B14F-4D97-AF65-F5344CB8AC3E}">
        <p14:creationId xmlns:p14="http://schemas.microsoft.com/office/powerpoint/2010/main" val="2417975974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DDA47-6697-3C80-BDBE-FC42834F1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uadroTexto 25">
            <a:extLst>
              <a:ext uri="{FF2B5EF4-FFF2-40B4-BE49-F238E27FC236}">
                <a16:creationId xmlns:a16="http://schemas.microsoft.com/office/drawing/2014/main" id="{02FFE846-0258-B8A2-4A6A-2E8BF8D85184}"/>
              </a:ext>
            </a:extLst>
          </p:cNvPr>
          <p:cNvSpPr txBox="1"/>
          <p:nvPr/>
        </p:nvSpPr>
        <p:spPr>
          <a:xfrm>
            <a:off x="1417814" y="3879559"/>
            <a:ext cx="1905444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r>
              <a:rPr lang="es-ES" sz="8800" b="1" dirty="0">
                <a:solidFill>
                  <a:srgbClr val="3479BB"/>
                </a:solidFill>
                <a:latin typeface="Montserrat" pitchFamily="2" charset="77"/>
              </a:rPr>
              <a:t>1. 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C630A510-7B4D-7277-5C86-7400383B33C4}"/>
              </a:ext>
            </a:extLst>
          </p:cNvPr>
          <p:cNvSpPr txBox="1"/>
          <p:nvPr/>
        </p:nvSpPr>
        <p:spPr>
          <a:xfrm>
            <a:off x="2783840" y="7256664"/>
            <a:ext cx="20706080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pPr algn="r"/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8. Deep </a:t>
            </a:r>
            <a:r>
              <a:rPr lang="es-ES" sz="11500" b="1" dirty="0" err="1">
                <a:solidFill>
                  <a:srgbClr val="F2F2F2"/>
                </a:solidFill>
                <a:latin typeface="Montserrat" pitchFamily="2" charset="77"/>
              </a:rPr>
              <a:t>Learning</a:t>
            </a:r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:</a:t>
            </a:r>
          </a:p>
          <a:p>
            <a:pPr algn="r"/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Artificial Neuronal Network (ANN)</a:t>
            </a:r>
          </a:p>
        </p:txBody>
      </p:sp>
    </p:spTree>
    <p:extLst>
      <p:ext uri="{BB962C8B-B14F-4D97-AF65-F5344CB8AC3E}">
        <p14:creationId xmlns:p14="http://schemas.microsoft.com/office/powerpoint/2010/main" val="1116637264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F56C4-C640-E1CF-D4BC-0E1FDD7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1721F05-1F00-6C08-9CCE-577994F6DAB6}"/>
              </a:ext>
            </a:extLst>
          </p:cNvPr>
          <p:cNvSpPr txBox="1"/>
          <p:nvPr/>
        </p:nvSpPr>
        <p:spPr>
          <a:xfrm>
            <a:off x="2755900" y="4936961"/>
            <a:ext cx="18872200" cy="38420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24300" b="0" i="0" u="none" strike="noStrike" cap="none" spc="0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uFillTx/>
                <a:latin typeface="Script MT Bold" panose="03040602040607080904" pitchFamily="66" charset="0"/>
                <a:ea typeface="ADLaM Display" panose="02010000000000000000" pitchFamily="2" charset="0"/>
                <a:cs typeface="ADLaM Display" panose="02010000000000000000" pitchFamily="2" charset="0"/>
                <a:sym typeface="Helvetica Neue"/>
              </a:rPr>
              <a:t>End</a:t>
            </a:r>
            <a:r>
              <a:rPr kumimoji="0" lang="es-ES" sz="243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Script MT Bold" panose="03040602040607080904" pitchFamily="66" charset="0"/>
                <a:ea typeface="ADLaM Display" panose="02010000000000000000" pitchFamily="2" charset="0"/>
                <a:cs typeface="ADLaM Display" panose="02010000000000000000" pitchFamily="2" charset="0"/>
                <a:sym typeface="Helvetica Neue"/>
              </a:rPr>
              <a:t> </a:t>
            </a:r>
            <a:r>
              <a:rPr kumimoji="0" lang="es-ES" sz="24300" b="0" i="0" u="none" strike="noStrike" cap="none" spc="0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uFillTx/>
                <a:latin typeface="Script MT Bold" panose="03040602040607080904" pitchFamily="66" charset="0"/>
                <a:ea typeface="ADLaM Display" panose="02010000000000000000" pitchFamily="2" charset="0"/>
                <a:cs typeface="ADLaM Display" panose="02010000000000000000" pitchFamily="2" charset="0"/>
                <a:sym typeface="Helvetica Neue"/>
              </a:rPr>
              <a:t>the</a:t>
            </a:r>
            <a:r>
              <a:rPr kumimoji="0" lang="es-ES" sz="243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Script MT Bold" panose="03040602040607080904" pitchFamily="66" charset="0"/>
                <a:ea typeface="ADLaM Display" panose="02010000000000000000" pitchFamily="2" charset="0"/>
                <a:cs typeface="ADLaM Display" panose="02010000000000000000" pitchFamily="2" charset="0"/>
                <a:sym typeface="Helvetica Neue"/>
              </a:rPr>
              <a:t> </a:t>
            </a:r>
            <a:r>
              <a:rPr kumimoji="0" lang="es-ES" sz="24300" b="0" i="0" u="none" strike="noStrike" cap="none" spc="0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uFillTx/>
                <a:latin typeface="Script MT Bold" panose="03040602040607080904" pitchFamily="66" charset="0"/>
                <a:ea typeface="ADLaM Display" panose="02010000000000000000" pitchFamily="2" charset="0"/>
                <a:cs typeface="ADLaM Display" panose="02010000000000000000" pitchFamily="2" charset="0"/>
                <a:sym typeface="Helvetica Neue"/>
              </a:rPr>
              <a:t>day</a:t>
            </a:r>
            <a:r>
              <a:rPr kumimoji="0" lang="es-ES" sz="243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Script MT Bold" panose="03040602040607080904" pitchFamily="66" charset="0"/>
                <a:ea typeface="ADLaM Display" panose="02010000000000000000" pitchFamily="2" charset="0"/>
                <a:cs typeface="ADLaM Display" panose="02010000000000000000" pitchFamily="2" charset="0"/>
                <a:sym typeface="Helvetica Neue"/>
              </a:rPr>
              <a:t> 2</a:t>
            </a:r>
          </a:p>
        </p:txBody>
      </p:sp>
    </p:spTree>
    <p:extLst>
      <p:ext uri="{BB962C8B-B14F-4D97-AF65-F5344CB8AC3E}">
        <p14:creationId xmlns:p14="http://schemas.microsoft.com/office/powerpoint/2010/main" val="31621155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E0B4B-F14C-7235-96E0-FCA7FF90D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uadroTexto 25">
            <a:extLst>
              <a:ext uri="{FF2B5EF4-FFF2-40B4-BE49-F238E27FC236}">
                <a16:creationId xmlns:a16="http://schemas.microsoft.com/office/drawing/2014/main" id="{BB3C0C01-9DE6-AD7C-1CC2-4B56F087073B}"/>
              </a:ext>
            </a:extLst>
          </p:cNvPr>
          <p:cNvSpPr txBox="1"/>
          <p:nvPr/>
        </p:nvSpPr>
        <p:spPr>
          <a:xfrm>
            <a:off x="1417814" y="3879559"/>
            <a:ext cx="1905444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r>
              <a:rPr lang="es-ES" sz="8800" b="1" dirty="0">
                <a:solidFill>
                  <a:srgbClr val="3479BB"/>
                </a:solidFill>
                <a:latin typeface="Montserrat" pitchFamily="2" charset="77"/>
              </a:rPr>
              <a:t>1. 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A6BEA3A7-88C6-BEF1-F51D-FDDA3F045117}"/>
              </a:ext>
            </a:extLst>
          </p:cNvPr>
          <p:cNvSpPr txBox="1"/>
          <p:nvPr/>
        </p:nvSpPr>
        <p:spPr>
          <a:xfrm>
            <a:off x="2783840" y="7256664"/>
            <a:ext cx="20706080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pPr algn="r"/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9. Deep </a:t>
            </a:r>
            <a:r>
              <a:rPr lang="es-ES" sz="11500" b="1" dirty="0" err="1">
                <a:solidFill>
                  <a:srgbClr val="F2F2F2"/>
                </a:solidFill>
                <a:latin typeface="Montserrat" pitchFamily="2" charset="77"/>
              </a:rPr>
              <a:t>Learning</a:t>
            </a:r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:</a:t>
            </a:r>
          </a:p>
          <a:p>
            <a:pPr algn="r"/>
            <a:r>
              <a:rPr lang="es-ES" sz="11500" b="1" dirty="0" err="1">
                <a:solidFill>
                  <a:srgbClr val="F2F2F2"/>
                </a:solidFill>
                <a:latin typeface="Montserrat" pitchFamily="2" charset="77"/>
              </a:rPr>
              <a:t>Convolutional</a:t>
            </a:r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 Neuronal Network (CNN)</a:t>
            </a:r>
          </a:p>
        </p:txBody>
      </p:sp>
    </p:spTree>
    <p:extLst>
      <p:ext uri="{BB962C8B-B14F-4D97-AF65-F5344CB8AC3E}">
        <p14:creationId xmlns:p14="http://schemas.microsoft.com/office/powerpoint/2010/main" val="2715285498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524BC-9FBB-381A-90D3-B50A9B598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uadroTexto 25">
            <a:extLst>
              <a:ext uri="{FF2B5EF4-FFF2-40B4-BE49-F238E27FC236}">
                <a16:creationId xmlns:a16="http://schemas.microsoft.com/office/drawing/2014/main" id="{6815A6B6-6D8E-7F89-C40B-D3FB3D2949F4}"/>
              </a:ext>
            </a:extLst>
          </p:cNvPr>
          <p:cNvSpPr txBox="1"/>
          <p:nvPr/>
        </p:nvSpPr>
        <p:spPr>
          <a:xfrm>
            <a:off x="1417814" y="3879559"/>
            <a:ext cx="1905444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r>
              <a:rPr lang="es-ES" sz="8800" b="1" dirty="0">
                <a:solidFill>
                  <a:srgbClr val="3479BB"/>
                </a:solidFill>
                <a:latin typeface="Montserrat" pitchFamily="2" charset="77"/>
              </a:rPr>
              <a:t>1. 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BE7448C7-94B8-2D5E-AF97-73E754DA0880}"/>
              </a:ext>
            </a:extLst>
          </p:cNvPr>
          <p:cNvSpPr txBox="1"/>
          <p:nvPr/>
        </p:nvSpPr>
        <p:spPr>
          <a:xfrm>
            <a:off x="2783840" y="7256664"/>
            <a:ext cx="20706080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pPr algn="r"/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10. Deep </a:t>
            </a:r>
            <a:r>
              <a:rPr lang="es-ES" sz="11500" b="1" dirty="0" err="1">
                <a:solidFill>
                  <a:srgbClr val="F2F2F2"/>
                </a:solidFill>
                <a:latin typeface="Montserrat" pitchFamily="2" charset="77"/>
              </a:rPr>
              <a:t>Learning</a:t>
            </a:r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:</a:t>
            </a:r>
          </a:p>
          <a:p>
            <a:pPr algn="r"/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Transfer </a:t>
            </a:r>
            <a:r>
              <a:rPr lang="es-ES" sz="11500" b="1" dirty="0" err="1">
                <a:solidFill>
                  <a:srgbClr val="F2F2F2"/>
                </a:solidFill>
                <a:latin typeface="Montserrat" pitchFamily="2" charset="77"/>
              </a:rPr>
              <a:t>Learning</a:t>
            </a:r>
            <a:endParaRPr lang="es-ES" sz="11500" b="1" dirty="0">
              <a:solidFill>
                <a:srgbClr val="F2F2F2"/>
              </a:solidFill>
              <a:latin typeface="Montserra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16363036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0F020-FB85-B129-97F3-6AA7C1225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uadroTexto 25">
            <a:extLst>
              <a:ext uri="{FF2B5EF4-FFF2-40B4-BE49-F238E27FC236}">
                <a16:creationId xmlns:a16="http://schemas.microsoft.com/office/drawing/2014/main" id="{4DF99C7D-D79C-D356-E6B7-4A96F0642984}"/>
              </a:ext>
            </a:extLst>
          </p:cNvPr>
          <p:cNvSpPr txBox="1"/>
          <p:nvPr/>
        </p:nvSpPr>
        <p:spPr>
          <a:xfrm>
            <a:off x="1417814" y="3879559"/>
            <a:ext cx="1905444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r>
              <a:rPr lang="es-ES" sz="8800" b="1" dirty="0">
                <a:solidFill>
                  <a:srgbClr val="3479BB"/>
                </a:solidFill>
                <a:latin typeface="Montserrat" pitchFamily="2" charset="77"/>
              </a:rPr>
              <a:t>1. 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5BC70C81-0A86-5CBB-9E40-A5AC9EEE79E2}"/>
              </a:ext>
            </a:extLst>
          </p:cNvPr>
          <p:cNvSpPr txBox="1"/>
          <p:nvPr/>
        </p:nvSpPr>
        <p:spPr>
          <a:xfrm>
            <a:off x="2783840" y="7256664"/>
            <a:ext cx="20706080" cy="1719852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pPr algn="r"/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11. Casos de usos: </a:t>
            </a:r>
          </a:p>
          <a:p>
            <a:pPr algn="r"/>
            <a:r>
              <a:rPr lang="es-ES" sz="11500" b="1" dirty="0" err="1">
                <a:solidFill>
                  <a:srgbClr val="F2F2F2"/>
                </a:solidFill>
                <a:latin typeface="Montserrat" pitchFamily="2" charset="77"/>
              </a:rPr>
              <a:t>End</a:t>
            </a:r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 – </a:t>
            </a:r>
            <a:r>
              <a:rPr lang="es-ES" sz="11500" b="1" dirty="0" err="1">
                <a:solidFill>
                  <a:srgbClr val="F2F2F2"/>
                </a:solidFill>
                <a:latin typeface="Montserrat" pitchFamily="2" charset="77"/>
              </a:rPr>
              <a:t>to</a:t>
            </a:r>
            <a:r>
              <a:rPr lang="es-ES" sz="11500" b="1" dirty="0">
                <a:solidFill>
                  <a:srgbClr val="F2F2F2"/>
                </a:solidFill>
                <a:latin typeface="Montserrat" pitchFamily="2" charset="77"/>
              </a:rPr>
              <a:t> - </a:t>
            </a:r>
            <a:r>
              <a:rPr lang="es-ES" sz="11500" b="1" dirty="0" err="1">
                <a:solidFill>
                  <a:srgbClr val="F2F2F2"/>
                </a:solidFill>
                <a:latin typeface="Montserrat" pitchFamily="2" charset="77"/>
              </a:rPr>
              <a:t>end</a:t>
            </a:r>
            <a:endParaRPr lang="es-ES" sz="11500" b="1" dirty="0">
              <a:solidFill>
                <a:srgbClr val="F2F2F2"/>
              </a:solidFill>
              <a:latin typeface="Montserra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492934483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vicenc.fernandez@upc.edu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/>
            </a:lvl1pPr>
          </a:lstStyle>
          <a:p>
            <a:r>
              <a:rPr lang="es-ES" dirty="0" err="1"/>
              <a:t>sergi.ramirez</a:t>
            </a:r>
            <a:r>
              <a:rPr dirty="0"/>
              <a:t>@upc.edu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8FBE165-ABD4-81D8-CC0C-05CDB3372B74}"/>
              </a:ext>
            </a:extLst>
          </p:cNvPr>
          <p:cNvSpPr txBox="1"/>
          <p:nvPr/>
        </p:nvSpPr>
        <p:spPr>
          <a:xfrm>
            <a:off x="2755900" y="4936961"/>
            <a:ext cx="18872200" cy="38420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243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  <a:sym typeface="Helvetica Neue"/>
              </a:rPr>
              <a:t>FINAL DIA 1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58913AC-9300-E97A-7EBB-BCA9550587E8}"/>
              </a:ext>
            </a:extLst>
          </p:cNvPr>
          <p:cNvSpPr/>
          <p:nvPr/>
        </p:nvSpPr>
        <p:spPr>
          <a:xfrm>
            <a:off x="3592054" y="5190168"/>
            <a:ext cx="6487160" cy="4042132"/>
          </a:xfrm>
          <a:prstGeom prst="rect">
            <a:avLst/>
          </a:prstGeom>
          <a:solidFill>
            <a:srgbClr val="3479BB">
              <a:alpha val="62000"/>
            </a:srgb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ES" sz="3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s-ES" sz="3200" dirty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ES" sz="3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s-ES" sz="3200" dirty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ES" sz="3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s-ES" sz="3200" dirty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ES" sz="3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ES" sz="3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1365634657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1015</TotalTime>
  <Words>139</Words>
  <Application>Microsoft Office PowerPoint</Application>
  <PresentationFormat>Personalizado</PresentationFormat>
  <Paragraphs>41</Paragraphs>
  <Slides>17</Slides>
  <Notes>0</Notes>
  <HiddenSlides>1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7" baseType="lpstr">
      <vt:lpstr>ADLaM Display</vt:lpstr>
      <vt:lpstr>Aptos</vt:lpstr>
      <vt:lpstr>Arial</vt:lpstr>
      <vt:lpstr>Helvetica Neue</vt:lpstr>
      <vt:lpstr>Helvetica Neue Medium</vt:lpstr>
      <vt:lpstr>Mona Sans VF</vt:lpstr>
      <vt:lpstr>Montserrat</vt:lpstr>
      <vt:lpstr>Script MT Bold</vt:lpstr>
      <vt:lpstr>Tahoma</vt:lpstr>
      <vt:lpstr>21_BasicWhite</vt:lpstr>
      <vt:lpstr>Model Risk &amp; Data Science Training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sergi.ramirez@upc.edu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SERGI RAMIREZ MITJANS</cp:lastModifiedBy>
  <cp:revision>6</cp:revision>
  <dcterms:modified xsi:type="dcterms:W3CDTF">2026-04-15T10:37:23Z</dcterms:modified>
</cp:coreProperties>
</file>